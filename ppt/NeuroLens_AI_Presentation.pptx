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295-467F-B2D0-74EEEC166DDB}"/>
              </c:ext>
            </c:extLst>
          </c:dPt>
          <c:dPt>
            <c:idx val="1"/>
            <c:bubble3D val="0"/>
            <c:spPr>
              <a:solidFill>
                <a:srgbClr val="00FF9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95-467F-B2D0-74EEEC166DD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295-467F-B2D0-74EEEC166DD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295-467F-B2D0-74EEEC166DD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Tumor (Positive)</c:v>
                </c:pt>
                <c:pt idx="1">
                  <c:v>No Tumor (Negative)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</c:v>
                </c:pt>
                <c:pt idx="1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295-467F-B2D0-74EEEC166D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C9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C9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87F-4724-8B7A-C29579D4E69C}"/>
              </c:ext>
            </c:extLst>
          </c:dPt>
          <c:dPt>
            <c:idx val="1"/>
            <c:invertIfNegative val="0"/>
            <c:bubble3D val="0"/>
            <c:spPr>
              <a:solidFill>
                <a:srgbClr val="00FF9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7F-4724-8B7A-C29579D4E69C}"/>
              </c:ext>
            </c:extLst>
          </c:dPt>
          <c:dPt>
            <c:idx val="2"/>
            <c:invertIfNegative val="0"/>
            <c:bubble3D val="0"/>
            <c:spPr>
              <a:solidFill>
                <a:srgbClr val="7C4D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87F-4724-8B7A-C29579D4E69C}"/>
              </c:ext>
            </c:extLst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CNN</c:v>
                </c:pt>
                <c:pt idx="1">
                  <c:v>Transfer Learning</c:v>
                </c:pt>
                <c:pt idx="2">
                  <c:v>Vision Transformer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97.5</c:v>
                </c:pt>
                <c:pt idx="1">
                  <c:v>98.25</c:v>
                </c:pt>
                <c:pt idx="2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87F-4724-8B7A-C29579D4E6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6"/>
        </c:scaling>
        <c:delete val="0"/>
        <c:axPos val="l"/>
        <c:majorGridlines>
          <c:spPr>
            <a:ln w="6350" cap="flat">
              <a:solidFill>
                <a:srgbClr val="546E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 AUC</c:v>
                </c:pt>
              </c:strCache>
            </c:strRef>
          </c:tx>
          <c:spPr>
            <a:solidFill>
              <a:srgbClr val="00C9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C9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6C6-4DC9-885E-3E1CC68F10FC}"/>
              </c:ext>
            </c:extLst>
          </c:dPt>
          <c:dPt>
            <c:idx val="1"/>
            <c:invertIfNegative val="0"/>
            <c:bubble3D val="0"/>
            <c:spPr>
              <a:solidFill>
                <a:srgbClr val="00FF9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C6-4DC9-885E-3E1CC68F10FC}"/>
              </c:ext>
            </c:extLst>
          </c:dPt>
          <c:dPt>
            <c:idx val="2"/>
            <c:invertIfNegative val="0"/>
            <c:bubble3D val="0"/>
            <c:spPr>
              <a:solidFill>
                <a:srgbClr val="7C4D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6C6-4DC9-885E-3E1CC68F10FC}"/>
              </c:ext>
            </c:extLst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CNN</c:v>
                </c:pt>
                <c:pt idx="1">
                  <c:v>Transfer Learning</c:v>
                </c:pt>
                <c:pt idx="2">
                  <c:v>Vision Transformer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99.28</c:v>
                </c:pt>
                <c:pt idx="1">
                  <c:v>99.56</c:v>
                </c:pt>
                <c:pt idx="2">
                  <c:v>99.75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6C6-4DC9-885E-3E1CC68F10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9"/>
        </c:scaling>
        <c:delete val="0"/>
        <c:axPos val="l"/>
        <c:majorGridlines>
          <c:spPr>
            <a:ln w="6350" cap="flat">
              <a:solidFill>
                <a:srgbClr val="546E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765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I'll present NeuroLens AI — a deep learning system for automated brain tumor detection from MRI scans. This project compares three model architectures: CNN, Transfer Learning with ResNet50, and a hybrid Vision Transformer. Let me walk you through the full pipeline from motivation to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Brain tumors cause devastating outcomes. The manual diagnostic pipeline is slow and error-prone. NeuroLens AI addresses this gap with an automated, interpretable deep learning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task is binary classification of MRI images. I'll explain five key challenges we faced and the four measurable success criteria that defined project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motivation is multi-faceted: urgent clinical need, proven AI potential, global access gaps, the explainability requirement for trust, scientific curiosity, and practical deployment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clear objectives drive the project. Each is measurable. Note that objectives 1-3 are technical, 4 is deployment, 5 is scientific benchmarking, and 6 is clinical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methods rely on manual expertise or simple computer vision. They suffer from subjectivity and limited scalability. NeuroLens AI dramatically improves on all fronts.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critical limitations motivate our AI-based approach. Emphasize that no single existing method addresses all of them simultaneously — but NeuroLens AI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NeuroLens AI is a complete pipeline: three trained models, a comparative analytics layer, and a visual explainability+dashboard layer. All running locally without cloud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stage of the pipeline: input MRI → preprocessing → parallel model inference → prediction output → explainability and web reporting. Everything runs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has 8 clear steps. Steps 1-4 form the prediction pipeline, steps 5-8 are the output/explainability pipeline. They run in parallel for all three models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is perfectly balanced at 200 tumor + 200 no_tumor in the test set — this ensures accuracy metrics are not confounded by class imbalance. Images are organized in class subfolders for automatic label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Preprocessing is the foundation. Consistent sizing (224×224) ensures compatibility across all three architectures. The TF data pipeline with prefetch dramatically speeds up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augmentation techniques directly address real-world MRI variation sources: scanner orientation, patient positioning, contrast protocols, and physical scan angles. Each has a clinical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architectures, three philosophies: CNN learns local features hierarchically, Transfer Learning adapts global ImageNet representations, and the Vision Transformer uses self-attention to capture global spatial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model was chosen with purpose. CNN as the interpretable baseline, ResNet50 for transfer power, and ViT for its unique ability to model global spatial dependencies — which is particularly relevant for MRI tumor spread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has 5 phases. For Transfer Learning, phase 3 trains only the head (backbone frozen), then phase 4 fine-tunes deeper layers. All models trained for 10 epochs with Adam optimizer and binary crossentropy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models share core hyperparameters for fair comparison. Key difference: Transfer Learning uses a two-phase learning rate schedule. The ViT uses LayerNorm instead of BatchNorm for stability in attention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Clinical context matters for metric choice: Recall (sensitivity) is critical — missing a tumor is far more dangerous than a false alarm. ROC AUC is threshold-independent, making it ideal for comparing models across screening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models exceed 97.5% accuracy — all surpass the 95% success criterion. The ViT's highest ROC AUC means it has the best ability to rank positive vs negative cases, regardless of decision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 achieves the lowest false positive rate (1/200 = 0.5%) — making it the safest option for population screening where falsely alarming a healthy patient is costly and distressing.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runs locally on the user's machine. Key UX features: single-button analysis, live status cards showing tumor probability and processing time, and a full model analytics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run result from the dashboard on tumor_00015.jpg. All three models independently agree on the diagnosis with near-perfect confidence. The comparative analysis runs in just 7.2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distinct features differentiate NeuroLens AI. Emphasize the combination of accuracy + explainability + local deployment as the unique value proposition for clinical-support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major challenges, all solved. The most interesting: adapting Grad-CAM to the ViT architecture required understanding attention mechanics at a deep level. The 2-phase TL training was the key insight for performance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future directions, prioritized by impact. Multi-class classification is the single highest-value addition. Federated learning is necessary for real-world healthcare deployment given data privacy regulations.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application domains, each with a distinct user group. The unifying theme: NeuroLens AI extends diagnostic reach, reduces workload, and maintains clinical trust through 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five key takeaways. Emphasize that this is a complete, end-to-end system — not just a model, but a full clinical-support tool with explainability and deployment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Be ready to discuss: (1) Why ViT needs the ResNet50 hybrid, (2) How Grad-CAM works mechanically, (3) The 85.75% → 98.25% Transfer Learning improvement story, (4) Future clinical deployment plans.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973666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546947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NeuroLens AI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84048" y="1385146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65760" y="20574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365760" y="2633472"/>
            <a:ext cx="4114800" cy="3657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CNN · Transfer Learning · Vision Transformer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3293533"/>
            <a:ext cx="5303520" cy="1433915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02920" y="360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Archisman Das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12064" y="4012183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github.com/archisman-das/Neuro-Lens-AI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617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103120" y="4617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840480" y="4617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577840" y="4617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15200" y="4617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0" cy="621792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621792"/>
          </a:xfrm>
          <a:prstGeom prst="rect">
            <a:avLst/>
          </a:prstGeom>
          <a:solidFill>
            <a:srgbClr val="FF6B6B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7043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tumors are among the most lethal neurological conditions worldwide.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5029200" cy="621792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47088"/>
            <a:ext cx="54864" cy="621792"/>
          </a:xfrm>
          <a:prstGeom prst="rect">
            <a:avLst/>
          </a:prstGeom>
          <a:solidFill>
            <a:srgbClr val="00FF94"/>
          </a:solidFill>
          <a:ln w="6350">
            <a:solidFill>
              <a:srgbClr val="00FF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20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significantly improves patient survival outcomes.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5029200" cy="621792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96896"/>
            <a:ext cx="54864" cy="621792"/>
          </a:xfrm>
          <a:prstGeom prst="rect">
            <a:avLst/>
          </a:prstGeom>
          <a:solidFill>
            <a:srgbClr val="B0BEC5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7004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diagnosis relies on manual MRI interpretation by radiologists.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5029200" cy="621792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46704"/>
            <a:ext cx="54864" cy="621792"/>
          </a:xfrm>
          <a:prstGeom prst="rect">
            <a:avLst/>
          </a:prstGeom>
          <a:solidFill>
            <a:srgbClr val="FFD93D"/>
          </a:solidFill>
          <a:ln w="6350">
            <a:solidFill>
              <a:srgbClr val="FFD9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1985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process is time-consuming, subjective &amp; expertise-dependent.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96512"/>
            <a:ext cx="5029200" cy="621792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96512"/>
            <a:ext cx="54864" cy="621792"/>
          </a:xfrm>
          <a:prstGeom prst="rect">
            <a:avLst/>
          </a:prstGeom>
          <a:solidFill>
            <a:srgbClr val="00C9FF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6966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offers a paradigm shift in medical image analysis.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0" y="1005840"/>
            <a:ext cx="3017520" cy="379476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IMPACT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15087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308,000+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85216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brain tumor cases yearly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167128"/>
            <a:ext cx="2468880" cy="1828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2331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~6.9%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852160" y="2697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survival for glioblastoma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2990088"/>
            <a:ext cx="2468880" cy="1828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31546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852160" y="3520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error rate (manual)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3813048"/>
            <a:ext cx="2468880" cy="1828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3977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97.5%+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852160" y="4343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NeuroLens AI accuracy achieved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solving?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960120"/>
            <a:ext cx="640080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9601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 →  { tumor,  no_tumor }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x ∈ ℝ^(H×W×C)  →  Binary Label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023360" cy="402336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77440"/>
            <a:ext cx="54864" cy="402336"/>
          </a:xfrm>
          <a:prstGeom prst="rect">
            <a:avLst/>
          </a:prstGeom>
          <a:solidFill>
            <a:srgbClr val="FF6B6B"/>
          </a:solidFill>
          <a:ln w="6350">
            <a:solidFill>
              <a:srgbClr val="FF6B6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4144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4672" y="24048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Intra-class variability in tumor size, shape &amp; location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2871216"/>
            <a:ext cx="4023360" cy="402336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871216"/>
            <a:ext cx="54864" cy="402336"/>
          </a:xfrm>
          <a:prstGeom prst="rect">
            <a:avLst/>
          </a:prstGeom>
          <a:solidFill>
            <a:srgbClr val="FF6B6B"/>
          </a:solidFill>
          <a:ln w="6350">
            <a:solidFill>
              <a:srgbClr val="FF6B6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3522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4672" y="28986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in clinical datasets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5760" y="3364992"/>
            <a:ext cx="4023360" cy="402336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5760" y="3364992"/>
            <a:ext cx="54864" cy="402336"/>
          </a:xfrm>
          <a:prstGeom prst="rect">
            <a:avLst/>
          </a:prstGeom>
          <a:solidFill>
            <a:srgbClr val="FF6B6B"/>
          </a:solidFill>
          <a:ln w="6350">
            <a:solidFill>
              <a:srgbClr val="FF6B6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4672" y="33924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labeled medical data available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65760" y="3858768"/>
            <a:ext cx="4023360" cy="402336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65760" y="3858768"/>
            <a:ext cx="54864" cy="402336"/>
          </a:xfrm>
          <a:prstGeom prst="rect">
            <a:avLst/>
          </a:prstGeom>
          <a:solidFill>
            <a:srgbClr val="FF6B6B"/>
          </a:solidFill>
          <a:ln w="6350">
            <a:solidFill>
              <a:srgbClr val="FF6B6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2277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4672" y="3886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required for clinical trust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365760" y="4352544"/>
            <a:ext cx="4023360" cy="402336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65760" y="4352544"/>
            <a:ext cx="54864" cy="402336"/>
          </a:xfrm>
          <a:prstGeom prst="rect">
            <a:avLst/>
          </a:prstGeom>
          <a:solidFill>
            <a:srgbClr val="FF6B6B"/>
          </a:solidFill>
          <a:ln w="6350">
            <a:solidFill>
              <a:srgbClr val="FF6B6B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16552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04672" y="43799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across different MRI protocols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754880" y="20848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54880" y="2377440"/>
            <a:ext cx="4023360" cy="585216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2377440"/>
            <a:ext cx="54864" cy="585216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32" name="Text 25"/>
          <p:cNvSpPr/>
          <p:nvPr/>
        </p:nvSpPr>
        <p:spPr>
          <a:xfrm>
            <a:off x="489204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892040" y="2670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95%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754880" y="3063240"/>
            <a:ext cx="4023360" cy="585216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754880" y="3063240"/>
            <a:ext cx="54864" cy="58521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6" name="Text 29"/>
          <p:cNvSpPr/>
          <p:nvPr/>
        </p:nvSpPr>
        <p:spPr>
          <a:xfrm>
            <a:off x="4892040" y="3136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4892040" y="3355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0.95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4754880" y="3749040"/>
            <a:ext cx="4023360" cy="585216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754880" y="3749040"/>
            <a:ext cx="54864" cy="58521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0" name="Text 33"/>
          <p:cNvSpPr/>
          <p:nvPr/>
        </p:nvSpPr>
        <p:spPr>
          <a:xfrm>
            <a:off x="4892040" y="3822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Maps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4892040" y="4041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 Plausible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4754880" y="4434840"/>
            <a:ext cx="4023360" cy="585216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4754880" y="4434840"/>
            <a:ext cx="54864" cy="58521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4" name="Text 37"/>
          <p:cNvSpPr/>
          <p:nvPr/>
        </p:nvSpPr>
        <p:spPr>
          <a:xfrm>
            <a:off x="4892040" y="4507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4892040" y="4727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NeuroLens AI?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117043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1170432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9903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Need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43560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shortages leave millions without timely diagnosis globally.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350008"/>
            <a:ext cx="4114800" cy="117043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350008"/>
            <a:ext cx="54864" cy="1170432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6974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441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Potential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97280" y="273405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has matched expert performance in multiple imaging tasks.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648456"/>
            <a:ext cx="4114800" cy="117043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648456"/>
            <a:ext cx="54864" cy="1170432"/>
          </a:xfrm>
          <a:prstGeom prst="rect">
            <a:avLst/>
          </a:prstGeom>
          <a:solidFill>
            <a:srgbClr val="00FF9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99592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739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Gap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97280" y="40325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regions lack specialized neuroimaging expertise entirely.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1051560"/>
            <a:ext cx="4114800" cy="117043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1051560"/>
            <a:ext cx="54864" cy="1170432"/>
          </a:xfrm>
          <a:prstGeom prst="rect">
            <a:avLst/>
          </a:prstGeom>
          <a:solidFill>
            <a:srgbClr val="00C9F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139903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532120" y="143560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need visual proof — not just predictions — to trust AI.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800600" y="2350008"/>
            <a:ext cx="4114800" cy="117043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00600" y="2350008"/>
            <a:ext cx="54864" cy="1170432"/>
          </a:xfrm>
          <a:prstGeom prst="rect">
            <a:avLst/>
          </a:prstGeom>
          <a:solidFill>
            <a:srgbClr val="7C4DFF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269748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32120" y="2441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532120" y="273405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CNN, TL &amp; ViT on one task reveals architecture trade-offs.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800600" y="3648456"/>
            <a:ext cx="4114800" cy="117043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00600" y="3648456"/>
            <a:ext cx="54864" cy="1170432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192" y="3995928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32120" y="3739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5532120" y="40325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web dashboard bridges research and real-world clinical use.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NeuroLens AI aims to achieve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75488" cy="5303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1024128"/>
            <a:ext cx="7863840" cy="53035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78992" y="10972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train three model architectures: CNN, Transfer Learning (ResNet50), and hybrid Vision Transformer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475488" cy="53035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691640"/>
            <a:ext cx="7863840" cy="53035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78992" y="176479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&gt;95% accuracy and &gt;0.95 ROC AUC on a balanced 400-sample MRI test set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359152"/>
            <a:ext cx="475488" cy="53035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59152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2359152"/>
            <a:ext cx="7863840" cy="53035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78992" y="243230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Grad-CAM and ViT patch saliency for visual explainability of predictions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026664"/>
            <a:ext cx="475488" cy="5303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26664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3026664"/>
            <a:ext cx="7863840" cy="53035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78992" y="309981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browser-based dashboard for real-time MRI upload and inference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94176"/>
            <a:ext cx="475488" cy="53035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94176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4400" y="3694176"/>
            <a:ext cx="7863840" cy="53035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78992" y="37673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all three architectures systematically under identical experimental conditions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361688"/>
            <a:ext cx="475488" cy="53035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61688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4400" y="4361688"/>
            <a:ext cx="7863840" cy="53035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78992" y="44348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clinical-support insights on model trade-offs for medical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/ Traditional Methods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brain tumors are currently detected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93392" cy="2028613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993392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MRI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1188720" cy="2743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Radiologists visually inspect each MRI slice for tumor indicators.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005840"/>
            <a:ext cx="1993392" cy="2028613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05840"/>
            <a:ext cx="1993392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115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CV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80360" y="1737360"/>
            <a:ext cx="1188720" cy="2743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828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operations, GLCM, LBP texture descriptors, SVMs.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1993392" cy="2028613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05840"/>
            <a:ext cx="1993392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115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Seg.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1737360"/>
            <a:ext cx="1188720" cy="2743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828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intensity thresholding to segment potential tumor regions.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1005840"/>
            <a:ext cx="1993392" cy="2028613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005840"/>
            <a:ext cx="1993392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115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78040" y="1737360"/>
            <a:ext cx="1188720" cy="2743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828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tissue sampling — gold standard but delayed &amp; risky.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108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SNAPSHOT (Traditional vs AI)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664636"/>
              </p:ext>
            </p:extLst>
          </p:nvPr>
        </p:nvGraphicFramePr>
        <p:xfrm>
          <a:off x="320040" y="3467269"/>
          <a:ext cx="8412480" cy="1036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57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Radiology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~70–85%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CV (SVM)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~75–90%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7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NeuroLens AI (CNN)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Grad-CAM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Existing Methods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approaches fall short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54864" cy="11887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716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Workload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78992" y="1408176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of thousands of MRI slices is extremely time-consuming. Radiologist fatigue leads to diagnostic errors.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340864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340864"/>
            <a:ext cx="54864" cy="1188720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688336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78992" y="2432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Subjectivity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78992" y="2724912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radiologists may disagree on the same scan. Diagnostic accuracy varies significantly by experience level.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657600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657600"/>
            <a:ext cx="54864" cy="1188720"/>
          </a:xfrm>
          <a:prstGeom prst="rect">
            <a:avLst/>
          </a:prstGeom>
          <a:solidFill>
            <a:srgbClr val="FF704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0507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78992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78992" y="4041648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radiologists are scarce in rural/low-income regions. Manual methods cannot scale to population-level screening.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1024128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1024128"/>
            <a:ext cx="54864" cy="1188720"/>
          </a:xfrm>
          <a:prstGeom prst="rect">
            <a:avLst/>
          </a:prstGeom>
          <a:solidFill>
            <a:srgbClr val="7C4DF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3716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13832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13832" y="1408176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CV requires hand-crafted features (GLCM, LBP). These miss complex patterns that deep networks capture automatically.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800600" y="2340864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00600" y="2340864"/>
            <a:ext cx="54864" cy="118872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2688336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13832" y="2432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Uncertainty Estimate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513832" y="2724912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rarely quantify diagnostic confidence or provide probability scores for clinical decision-making.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800600" y="3657600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00600" y="3657600"/>
            <a:ext cx="54864" cy="1188720"/>
          </a:xfrm>
          <a:prstGeom prst="rect">
            <a:avLst/>
          </a:prstGeom>
          <a:solidFill>
            <a:srgbClr val="00C9FF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4005072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13832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Decisions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513832" y="4041648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AI tools without explainability are not accepted in clinical settings. Clinicians need visual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System: NeuroLens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automated, explainable MRI classification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Transfer Learning + Vision Transformer  →  Ensemble Comparative Analysis  →  Explainable Web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743200" cy="272491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27432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Baseline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architecture trained from scratch. 3 Conv blocks + GAP + Dense. Lightweight &amp; fast.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3291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3566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0.9928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1920240"/>
            <a:ext cx="2743200" cy="272491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920240"/>
            <a:ext cx="2743200" cy="54864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2377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ImageNet backbone. Frozen → Fine-tuned head. Rich feature representations.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291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3291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98.25%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566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566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0.9956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1920240"/>
            <a:ext cx="2743200" cy="272491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920240"/>
            <a:ext cx="274320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2377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ViT: ResNet50 extractor + Transformer encoder + [CLS] token classification.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291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3291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98.00%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3566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3566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" y="464515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14600" y="464515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464515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12280" y="464515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46304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46304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51560"/>
            <a:ext cx="1463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65960" y="960120"/>
            <a:ext cx="146304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65960" y="960120"/>
            <a:ext cx="1463040" cy="54864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1051560"/>
            <a:ext cx="1463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Augment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3320" y="960120"/>
            <a:ext cx="146304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03320" y="960120"/>
            <a:ext cx="146304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051560"/>
            <a:ext cx="1463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0680" y="960120"/>
            <a:ext cx="146304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40680" y="960120"/>
            <a:ext cx="1463040" cy="54864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051560"/>
            <a:ext cx="1463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960120"/>
            <a:ext cx="155448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78040" y="960120"/>
            <a:ext cx="155448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051560"/>
            <a:ext cx="1554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09928" y="1280160"/>
            <a:ext cx="228600" cy="54864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1" name="Text 19"/>
          <p:cNvSpPr/>
          <p:nvPr/>
        </p:nvSpPr>
        <p:spPr>
          <a:xfrm>
            <a:off x="1874520" y="121615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47288" y="1280160"/>
            <a:ext cx="228600" cy="54864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121615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84648" y="1280160"/>
            <a:ext cx="228600" cy="54864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121615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22008" y="1280160"/>
            <a:ext cx="228600" cy="54864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121615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1920240"/>
            <a:ext cx="1463040" cy="242316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28600" y="1920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22128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MRI JPEG/PNG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2715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224×224 px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32186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RGB channels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37216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Tumor / No Tumor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65960" y="1920240"/>
            <a:ext cx="1463040" cy="242316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965960" y="1920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11680" y="2212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Resize 224×224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11680" y="26151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Normalize [0,1]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1168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Random Flip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11680" y="34198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Rotation/Zoom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11680" y="38221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Brightness Adj.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03320" y="1920240"/>
            <a:ext cx="1463040" cy="242316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703320" y="1920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49040" y="2212848"/>
            <a:ext cx="1371600" cy="566928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749040" y="22128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49040" y="2926080"/>
            <a:ext cx="1371600" cy="566928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749040" y="29260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(ResNet50)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49040" y="3639312"/>
            <a:ext cx="1371600" cy="566928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749040" y="36393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1920240"/>
            <a:ext cx="1463040" cy="242316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440680" y="1920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0" y="2212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Tumor / No Tumor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86400" y="26151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Confidence Score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Probability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0" y="34198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 Weights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86400" y="38221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JSON Metrics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178040" y="1920240"/>
            <a:ext cx="1554480" cy="242316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178040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23760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Grad-CAM Heatmap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223760" y="26151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ViT Patch Saliency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223760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Overlay Images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223760" y="34198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PDF Report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223760" y="38221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Web Dashboard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process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77724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0" cy="77724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078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MRI Scan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.jpg/.png file via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4114800" cy="77724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65960"/>
            <a:ext cx="548640" cy="77724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9659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039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350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→ Normalize → Augment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77724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26080"/>
            <a:ext cx="548640" cy="77724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9260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conv layers / ResNet50 backbone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4114800" cy="77724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86200"/>
            <a:ext cx="548640" cy="77724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886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3959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270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 → Tumor / No Tumor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005840"/>
            <a:ext cx="4114800" cy="77724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005840"/>
            <a:ext cx="548640" cy="7772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0058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0" y="1078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 per model (0.0–1.0)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1965960"/>
            <a:ext cx="4114800" cy="77724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965960"/>
            <a:ext cx="548640" cy="77724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9659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0" y="2039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2350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/ ViT attention saliency maps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926080"/>
            <a:ext cx="4114800" cy="77724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926080"/>
            <a:ext cx="548640" cy="77724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9260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8640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0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vs TL vs ViT side-by-side analysis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3886200"/>
            <a:ext cx="4114800" cy="77724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886200"/>
            <a:ext cx="548640" cy="77724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886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486400" y="3959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Dashboard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0" y="4270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results + downloadable PDF report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" y="1810512"/>
            <a:ext cx="27432" cy="16459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46" name="Text 44"/>
          <p:cNvSpPr/>
          <p:nvPr/>
        </p:nvSpPr>
        <p:spPr>
          <a:xfrm>
            <a:off x="585216" y="19385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8368" y="2770632"/>
            <a:ext cx="27432" cy="16459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48" name="Text 46"/>
          <p:cNvSpPr/>
          <p:nvPr/>
        </p:nvSpPr>
        <p:spPr>
          <a:xfrm>
            <a:off x="585216" y="28986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8368" y="3730752"/>
            <a:ext cx="27432" cy="16459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50" name="Text 48"/>
          <p:cNvSpPr/>
          <p:nvPr/>
        </p:nvSpPr>
        <p:spPr>
          <a:xfrm>
            <a:off x="585216" y="3858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30368" y="1810512"/>
            <a:ext cx="27432" cy="16459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52" name="Text 50"/>
          <p:cNvSpPr/>
          <p:nvPr/>
        </p:nvSpPr>
        <p:spPr>
          <a:xfrm>
            <a:off x="5157216" y="19385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230368" y="2770632"/>
            <a:ext cx="27432" cy="16459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54" name="Text 52"/>
          <p:cNvSpPr/>
          <p:nvPr/>
        </p:nvSpPr>
        <p:spPr>
          <a:xfrm>
            <a:off x="5157216" y="28986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230368" y="3730752"/>
            <a:ext cx="27432" cy="16459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56" name="Text 54"/>
          <p:cNvSpPr/>
          <p:nvPr/>
        </p:nvSpPr>
        <p:spPr>
          <a:xfrm>
            <a:off x="5157216" y="3858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407408" y="2286000"/>
            <a:ext cx="420624" cy="3657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58" name="Text 56"/>
          <p:cNvSpPr/>
          <p:nvPr/>
        </p:nvSpPr>
        <p:spPr>
          <a:xfrm>
            <a:off x="4370832" y="2176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4224528" y="100584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dataset used for training and evaluation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840480" cy="3822192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3749040" cy="402336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36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1956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/ no_tumor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304288"/>
            <a:ext cx="3749040" cy="402336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77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Format: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/ PNG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980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px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145536"/>
            <a:ext cx="3749040" cy="402336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186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218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(3-channel)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639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Size: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639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samples (balanced)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986784"/>
            <a:ext cx="3749040" cy="402336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4059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tumor + 200 no_tumor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480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(Test Set)</a:t>
            </a:r>
            <a:endParaRPr lang="en-US" sz="11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572000" y="1280160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4663440" y="3611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663440" y="3913632"/>
            <a:ext cx="4114800" cy="86868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754880" y="3977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train/tumor/   train/no_tumor/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val/tumor/     val/no_tumor/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test/tumor/    test/no_tumor/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Techniques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MRI images for deep learning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00" cy="868680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868680"/>
          </a:xfrm>
          <a:prstGeom prst="rect">
            <a:avLst/>
          </a:prstGeom>
          <a:solidFill>
            <a:srgbClr val="00C9FF"/>
          </a:solidFill>
          <a:ln w="6350">
            <a:solidFill>
              <a:srgbClr val="00C9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615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Loading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tf.keras.preprocessing.image_dataset_from_directory() with auto label inference from folder names.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011680"/>
            <a:ext cx="5486400" cy="868680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2011680"/>
            <a:ext cx="54864" cy="868680"/>
          </a:xfrm>
          <a:prstGeom prst="rect">
            <a:avLst/>
          </a:prstGeom>
          <a:solidFill>
            <a:srgbClr val="FFD93D"/>
          </a:solidFill>
          <a:ln w="6350">
            <a:solidFill>
              <a:srgbClr val="FFD93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22199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9728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uniformly resized to 224×224 pixels — compatible with CNN, ResNet50 and ViT architectures.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017520"/>
            <a:ext cx="5486400" cy="868680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5760" y="3017520"/>
            <a:ext cx="54864" cy="868680"/>
          </a:xfrm>
          <a:prstGeom prst="rect">
            <a:avLst/>
          </a:prstGeom>
          <a:solidFill>
            <a:srgbClr val="00FF94"/>
          </a:solidFill>
          <a:ln w="6350">
            <a:solidFill>
              <a:srgbClr val="00FF94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2783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9728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rescaled from [0,255] to [0,1] using rescaling layers embedded within each model.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4023360"/>
            <a:ext cx="5486400" cy="868680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65760" y="4023360"/>
            <a:ext cx="54864" cy="868680"/>
          </a:xfrm>
          <a:prstGeom prst="rect">
            <a:avLst/>
          </a:prstGeom>
          <a:solidFill>
            <a:srgbClr val="00BCD4"/>
          </a:solidFill>
          <a:ln w="6350">
            <a:solidFill>
              <a:srgbClr val="00BCD4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23367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Pipeline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09728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tf.data pipeline with prefetch() and cache() for GPU-optimized data loading.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126480" y="1005840"/>
            <a:ext cx="2606040" cy="379476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217920" y="10789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199632" y="1371600"/>
            <a:ext cx="2423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train_ds = tf.keras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.preprocessing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.image_dataset_from_directory(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'dataset/train',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image_size=(224,224),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batch_size=32,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label_mode='binary'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Normalization layer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 = Rescaling(1./255)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train_ds = train_ds.map(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lambda x,y: (norm(x),y)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generalization to unseen MRI scans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Augment?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datasets are expensive and small. Augmentation artificially expands training variety without new data collection.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114800" cy="91440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91640"/>
            <a:ext cx="54864" cy="9144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691640"/>
            <a:ext cx="41148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103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Mimics mirror-image brain scans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70632"/>
            <a:ext cx="4114800" cy="91440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70632"/>
            <a:ext cx="54864" cy="91440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770632"/>
            <a:ext cx="4114800" cy="54864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862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Flip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1821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inverted scan orientations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49624"/>
            <a:ext cx="4114800" cy="91440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49624"/>
            <a:ext cx="54864" cy="9144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849624"/>
            <a:ext cx="4114800" cy="54864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941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4261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±15° covers scan angle variation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1691640"/>
            <a:ext cx="4114800" cy="91440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691640"/>
            <a:ext cx="54864" cy="9144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4" name="Shape 22"/>
          <p:cNvSpPr/>
          <p:nvPr/>
        </p:nvSpPr>
        <p:spPr>
          <a:xfrm>
            <a:off x="4800600" y="1691640"/>
            <a:ext cx="41148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5" name="Text 23"/>
          <p:cNvSpPr/>
          <p:nvPr/>
        </p:nvSpPr>
        <p:spPr>
          <a:xfrm>
            <a:off x="4965192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In/Out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65192" y="2103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varying scan distances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2770632"/>
            <a:ext cx="4114800" cy="91440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2770632"/>
            <a:ext cx="54864" cy="9144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800600" y="2770632"/>
            <a:ext cx="411480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0" name="Text 28"/>
          <p:cNvSpPr/>
          <p:nvPr/>
        </p:nvSpPr>
        <p:spPr>
          <a:xfrm>
            <a:off x="4965192" y="2862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Shift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65192" y="31821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Compensates MRI contrast variations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849624"/>
            <a:ext cx="4114800" cy="91440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849624"/>
            <a:ext cx="54864" cy="91440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4" name="Shape 32"/>
          <p:cNvSpPr/>
          <p:nvPr/>
        </p:nvSpPr>
        <p:spPr>
          <a:xfrm>
            <a:off x="4800600" y="3849624"/>
            <a:ext cx="4114800" cy="54864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5" name="Text 33"/>
          <p:cNvSpPr/>
          <p:nvPr/>
        </p:nvSpPr>
        <p:spPr>
          <a:xfrm>
            <a:off x="4965192" y="3941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Width/Height Shift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65192" y="4261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off-center patient positioning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Architectures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— one task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651760" cy="391363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65176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24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Baseline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237744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356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237744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110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0756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+ BN + ReLU + MaxPool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368296"/>
            <a:ext cx="237744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865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5511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+ BN + ReLU + MaxPool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843784"/>
            <a:ext cx="237744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620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0266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+ BN + ReLU + MaxPool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319272"/>
            <a:ext cx="237744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FFD9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337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5021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→ Vector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794760"/>
            <a:ext cx="237744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7C4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813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977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4270248"/>
            <a:ext cx="237744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00FF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885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Sigmoid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4531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Output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08960" y="960120"/>
            <a:ext cx="2651760" cy="391363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08960" y="960120"/>
            <a:ext cx="2651760" cy="54864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31" name="Text 29"/>
          <p:cNvSpPr/>
          <p:nvPr/>
        </p:nvSpPr>
        <p:spPr>
          <a:xfrm>
            <a:off x="3108960" y="1024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(ResNet50)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46120" y="1417320"/>
            <a:ext cx="237744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14356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91840" y="1600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1.2M images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46120" y="1892808"/>
            <a:ext cx="237744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00FF9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19110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Backbone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91840" y="20756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50-layer residual network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46120" y="2368296"/>
            <a:ext cx="237744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FFD9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23865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Phase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91840" y="25511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head only (Phase 1)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46120" y="2843784"/>
            <a:ext cx="237744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FFD9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28620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&amp; Fine-tune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91840" y="30266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LR deeper layers (Phase 2)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46120" y="3319272"/>
            <a:ext cx="237744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3337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91840" y="35021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 → Vector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46120" y="3794760"/>
            <a:ext cx="237744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7C4D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3813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Dropout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91840" y="3977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head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46120" y="4270248"/>
            <a:ext cx="237744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00FF9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42885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Sigmoid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91840" y="44531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Output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989320" y="960120"/>
            <a:ext cx="2834640" cy="391363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989320" y="960120"/>
            <a:ext cx="283464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5" name="Text 53"/>
          <p:cNvSpPr/>
          <p:nvPr/>
        </p:nvSpPr>
        <p:spPr>
          <a:xfrm>
            <a:off x="5989320" y="10241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Vision Transformer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126480" y="1417320"/>
            <a:ext cx="256032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2200" y="14356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Backbone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72200" y="16002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feature extractor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26480" y="1892808"/>
            <a:ext cx="256032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7C4D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72200" y="19110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Tokenization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172200" y="20756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features → Token sequence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126480" y="2368296"/>
            <a:ext cx="256032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FFD9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2200" y="23865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Embedding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172200" y="255117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spatial location info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126480" y="2843784"/>
            <a:ext cx="256032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72200" y="28620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Token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172200" y="30266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classification token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126480" y="3319272"/>
            <a:ext cx="256032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7C4D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72200" y="33375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172200" y="35021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MHSA + FFN + LayerNorm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126480" y="3794760"/>
            <a:ext cx="256032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72200" y="38130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Aggregation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172200" y="39776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 representation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126480" y="4270248"/>
            <a:ext cx="256032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00FF9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72200" y="428853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Sigmoid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172200" y="4453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Output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Models Were Chosen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 for a comparative study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384048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Baseline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56032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546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45720" cy="65836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002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benchmark for image classification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256032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546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86000"/>
            <a:ext cx="45720" cy="65836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774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— fast inference, low hardware requirement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256032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546E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63240"/>
            <a:ext cx="45720" cy="65836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546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interpretability via Grad-CAM visualization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256032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546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40480"/>
            <a:ext cx="45720" cy="65836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9319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baseline: 97.5% accuracy from scratch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1005840"/>
            <a:ext cx="2743200" cy="384048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005840"/>
            <a:ext cx="2743200" cy="54864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Transfer Learning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0" y="1508760"/>
            <a:ext cx="256032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546E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1508760"/>
            <a:ext cx="45720" cy="658368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16002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1.2M ImageNet images — rich features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2286000"/>
            <a:ext cx="256032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546E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2286000"/>
            <a:ext cx="45720" cy="658368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23774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prevent vanishing gradients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063240"/>
            <a:ext cx="256032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546E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3063240"/>
            <a:ext cx="45720" cy="658368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31546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top performer on limited medical datasets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3840480"/>
            <a:ext cx="256032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546E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3840480"/>
            <a:ext cx="45720" cy="658368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39319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achieved: 98.25% after fine-tuning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1005840"/>
            <a:ext cx="2743200" cy="384048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1005840"/>
            <a:ext cx="274320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Vision Transformer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09360" y="1508760"/>
            <a:ext cx="256032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546E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1508760"/>
            <a:ext cx="45720" cy="65836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16002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global spatial dependencies in MRI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2286000"/>
            <a:ext cx="256032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546E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2286000"/>
            <a:ext cx="45720" cy="65836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23774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highlights long-range tumor context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09360" y="3063240"/>
            <a:ext cx="256032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546E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3063240"/>
            <a:ext cx="45720" cy="65836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6" name="Text 44"/>
          <p:cNvSpPr/>
          <p:nvPr/>
        </p:nvSpPr>
        <p:spPr>
          <a:xfrm>
            <a:off x="6446520" y="31546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ROC AUC: 0.9975 — best discrimination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09360" y="3840480"/>
            <a:ext cx="256032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546E7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3840480"/>
            <a:ext cx="45720" cy="65836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39319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specificity (99.5%) for safe screening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model was trained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600200" cy="22860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16002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pipeline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tf.data prefetch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987552"/>
            <a:ext cx="1600200" cy="22860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0" y="987552"/>
            <a:ext cx="1600200" cy="54864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84832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stacking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987552"/>
            <a:ext cx="1600200" cy="22860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987552"/>
            <a:ext cx="160020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Train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22192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 (TL)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Head-only 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monitoring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987552"/>
            <a:ext cx="1600200" cy="22860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987552"/>
            <a:ext cx="16002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59552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deep layers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LR (1e-5)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987552"/>
            <a:ext cx="1600200" cy="22860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0" y="987552"/>
            <a:ext cx="1600200" cy="54864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96912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scoring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confusion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export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92808" y="190195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30168" y="190195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67528" y="190195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04888" y="190195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COMMANDS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785616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src/train.py --model cnn --dataset dataset --epochs 10 --batch_size 32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src/train.py --model transfer --dataset dataset --epochs 10 --batch_size 32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src/train.py --model vit --dataset dataset --epochs 10 --batch_size 32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saved to: artifacts/&lt;model&gt;/best_weights.weights.h5  ·  Training history exported as .npz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&amp; Configuration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 details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97764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(ResNet50)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Transformer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Crossentropy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Crossentropy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Crossentropy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 (default)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 → 1e-5 (fine-tune)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 (default)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(+ fine-tune)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224×224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224×224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224×224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(scratch)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 (ImageNet)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 (frozen)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Activation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LayerNorm + Dropout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Precision, 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Precision, 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Precision, 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performance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54864" cy="11887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115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correctness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3560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classified / Total samples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(TP + TN) / (TP+TN+FP+FN)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77440"/>
            <a:ext cx="54864" cy="118872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false alarms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tumors, how many were real?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730752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30752"/>
            <a:ext cx="54864" cy="1188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03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822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missed tumors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14223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tumors, how many did we catch?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024128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024128"/>
            <a:ext cx="54864" cy="1188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26680" y="1115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performance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143560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(P × R) / (P + R)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377440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377440"/>
            <a:ext cx="54864" cy="118872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26680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Threshold-independent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278892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the ROC Curve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discrimination capability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730752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730752"/>
            <a:ext cx="54864" cy="118872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803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26680" y="3822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error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83480" y="414223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TN / FP / FN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error breakdown per class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Loss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convergence across all three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Accuracy Comparison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23444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Comparison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846320" y="1234440"/>
          <a:ext cx="39319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4535424"/>
            <a:ext cx="8412480" cy="411480"/>
          </a:xfrm>
          <a:prstGeom prst="rect">
            <a:avLst/>
          </a:prstGeom>
          <a:solidFill>
            <a:srgbClr val="111827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ViT achieves highest ROC AUC (0.9975) — ideal for clinical screening  ·  Transfer Learning achieves highest accuracy (98.25%)  ·  CNN is strongest lightweight baseline (97.5%)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Results &amp; Confusion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model performance breakdown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RESULTS (400-sample balanced test set)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8412480" cy="12801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0.9825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Transformer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C4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C4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C4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C4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C4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0.9975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46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26334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907792"/>
            <a:ext cx="2743200" cy="199339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2907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Baseline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236976"/>
            <a:ext cx="123444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236976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TN: 198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783080" y="3236976"/>
            <a:ext cx="123444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83080" y="3236976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FP: 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895344"/>
            <a:ext cx="123444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895344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8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783080" y="3895344"/>
            <a:ext cx="123444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83080" y="3895344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TP: 192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65760" y="3200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Negative / Positive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291840" y="2907792"/>
            <a:ext cx="2743200" cy="199339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291840" y="2907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100" dirty="0"/>
          </a:p>
        </p:txBody>
      </p:sp>
      <p:sp>
        <p:nvSpPr>
          <p:cNvPr id="6" name="Shape 18"/>
          <p:cNvSpPr/>
          <p:nvPr/>
        </p:nvSpPr>
        <p:spPr>
          <a:xfrm>
            <a:off x="3383280" y="3236976"/>
            <a:ext cx="123444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3236976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TN: 197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09160" y="3236976"/>
            <a:ext cx="123444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9160" y="3236976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FP: 3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383280" y="3895344"/>
            <a:ext cx="123444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83280" y="3895344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4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709160" y="3895344"/>
            <a:ext cx="123444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9160" y="3895344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TP: 196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291840" y="3200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Negative / Positive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217920" y="2907792"/>
            <a:ext cx="2743200" cy="199339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217920" y="2907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309360" y="3236976"/>
            <a:ext cx="123444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09360" y="3236976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TN: 199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635240" y="3236976"/>
            <a:ext cx="123444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35240" y="3236976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FP: 1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309360" y="3895344"/>
            <a:ext cx="123444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0" y="3895344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7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7635240" y="3895344"/>
            <a:ext cx="1234440" cy="585216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635240" y="3895344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TP: 193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217920" y="3200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Negative / Positive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Web Interface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NeuroLens AI — local web application</a:t>
            </a:r>
            <a:endParaRPr lang="en-US" sz="1200" dirty="0"/>
          </a:p>
        </p:txBody>
      </p:sp>
      <p:pic>
        <p:nvPicPr>
          <p:cNvPr id="5" name="Image 0" descr="/home/claude/im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21208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60120"/>
            <a:ext cx="521208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91363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Main dashboard — MRI upload, pipeline controls &amp; live results</a:t>
            </a:r>
            <a:endParaRPr lang="en-US" sz="1000" dirty="0"/>
          </a:p>
        </p:txBody>
      </p:sp>
      <p:pic>
        <p:nvPicPr>
          <p:cNvPr id="8" name="Image 1" descr="/home/claude/img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960120"/>
            <a:ext cx="3017520" cy="1691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06440" y="960120"/>
            <a:ext cx="3017520" cy="1691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06440" y="26791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3: Model Analytics — accuracy, precision, recall per model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06440" y="2999232"/>
            <a:ext cx="3017520" cy="438912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806440" y="2999232"/>
            <a:ext cx="54864" cy="438912"/>
          </a:xfrm>
          <a:prstGeom prst="rect">
            <a:avLst/>
          </a:prstGeom>
          <a:solidFill>
            <a:srgbClr val="00C9FF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943600" y="30723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Bar: 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858000" y="3072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Scan ID / Report lookup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806440" y="3529584"/>
            <a:ext cx="3017520" cy="438912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06440" y="3529584"/>
            <a:ext cx="54864" cy="438912"/>
          </a:xfrm>
          <a:prstGeom prst="rect">
            <a:avLst/>
          </a:prstGeom>
          <a:solidFill>
            <a:srgbClr val="FFD93D"/>
          </a:solidFill>
          <a:ln w="6350">
            <a:solidFill>
              <a:srgbClr val="FFD9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43600" y="3602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Panel: 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858000" y="3602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MRI → Run Analysis button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806440" y="4059936"/>
            <a:ext cx="3017520" cy="438912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806440" y="4059936"/>
            <a:ext cx="54864" cy="438912"/>
          </a:xfrm>
          <a:prstGeom prst="rect">
            <a:avLst/>
          </a:prstGeom>
          <a:solidFill>
            <a:srgbClr val="00FF94"/>
          </a:solidFill>
          <a:ln w="6350">
            <a:solidFill>
              <a:srgbClr val="00FF9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43600" y="4133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Cards: 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858000" y="4133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status, type, confidence, time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06440" y="4590288"/>
            <a:ext cx="3017520" cy="438912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806440" y="4590288"/>
            <a:ext cx="54864" cy="438912"/>
          </a:xfrm>
          <a:prstGeom prst="rect">
            <a:avLst/>
          </a:prstGeom>
          <a:solidFill>
            <a:srgbClr val="00BCD4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943600" y="4663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Analytics: 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858000" y="4663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accuracy, precision, recall, F1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MRI upload to diagnosis in real-time</a:t>
            </a:r>
            <a:endParaRPr lang="en-US" sz="1200" dirty="0"/>
          </a:p>
        </p:txBody>
      </p:sp>
      <p:pic>
        <p:nvPicPr>
          <p:cNvPr id="5" name="Image 0" descr="/home/claude/im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87552"/>
            <a:ext cx="5029200" cy="2816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87552"/>
            <a:ext cx="5029200" cy="28163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8221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MRI Viewer + multi-model prediction results</a:t>
            </a:r>
            <a:endParaRPr lang="en-US" sz="1000" dirty="0"/>
          </a:p>
        </p:txBody>
      </p:sp>
      <p:pic>
        <p:nvPicPr>
          <p:cNvPr id="8" name="Image 1" descr="/home/claude/img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987552"/>
            <a:ext cx="3154680" cy="1783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23560" y="1046988"/>
            <a:ext cx="3154680" cy="17236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23560" y="27889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4: Activity timeline &amp; comparative study summary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623560" y="3090672"/>
            <a:ext cx="3154680" cy="45720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23560" y="3090672"/>
            <a:ext cx="54864" cy="4572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3" name="Text 9"/>
          <p:cNvSpPr/>
          <p:nvPr/>
        </p:nvSpPr>
        <p:spPr>
          <a:xfrm>
            <a:off x="5742432" y="31638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742432" y="33467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detected · 1.000 confidence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623560" y="3639312"/>
            <a:ext cx="3154680" cy="45720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23560" y="3639312"/>
            <a:ext cx="54864" cy="45720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7" name="Text 13"/>
          <p:cNvSpPr/>
          <p:nvPr/>
        </p:nvSpPr>
        <p:spPr>
          <a:xfrm>
            <a:off x="5742432" y="37124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742432" y="38953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detected · 1.000 confidence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623560" y="4187952"/>
            <a:ext cx="3154680" cy="45720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623560" y="4187952"/>
            <a:ext cx="54864" cy="4572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1" name="Text 17"/>
          <p:cNvSpPr/>
          <p:nvPr/>
        </p:nvSpPr>
        <p:spPr>
          <a:xfrm>
            <a:off x="5742432" y="4261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Transformer: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742432" y="44439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detected · 0.999 confidence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65760" y="46817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3/3 models agreed. Comparative analysis in 37.2s.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of the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NeuroLens AI stand 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86868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868680"/>
          </a:xfrm>
          <a:prstGeom prst="rect">
            <a:avLst/>
          </a:prstGeom>
          <a:solidFill>
            <a:srgbClr val="00C9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1615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0972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3-Model Ensemble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78992" y="13898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Transfer Learning &amp; ViT running in parallel on the same scan.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005840"/>
            <a:ext cx="4114800" cy="86868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005840"/>
            <a:ext cx="54864" cy="868680"/>
          </a:xfrm>
          <a:prstGeom prst="rect">
            <a:avLst/>
          </a:prstGeom>
          <a:solidFill>
            <a:srgbClr val="00FF9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21615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13832" y="10972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Explainability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13832" y="13898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heatmaps showing exactly which MRI regions triggered detection.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011680"/>
            <a:ext cx="4114800" cy="86868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011680"/>
            <a:ext cx="54864" cy="868680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22199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78992" y="21031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Analytics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78992" y="23957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accuracy, precision, recall, F1 &amp; confidence for all models.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2011680"/>
            <a:ext cx="4114800" cy="86868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011680"/>
            <a:ext cx="54864" cy="86868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222199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13832" y="21031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13832" y="23957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Analyze in seconds. No cloud needed — fully local execution.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65760" y="3017520"/>
            <a:ext cx="4114800" cy="86868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65760" y="3017520"/>
            <a:ext cx="54864" cy="868680"/>
          </a:xfrm>
          <a:prstGeom prst="rect">
            <a:avLst/>
          </a:prstGeom>
          <a:solidFill>
            <a:srgbClr val="7C4DFF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227832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78992" y="31089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Safe Design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78992" y="34015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false positives. ViT achieves 99.5% specificity.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800600" y="3017520"/>
            <a:ext cx="4114800" cy="86868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00600" y="3017520"/>
            <a:ext cx="54864" cy="868680"/>
          </a:xfrm>
          <a:prstGeom prst="rect">
            <a:avLst/>
          </a:prstGeom>
          <a:solidFill>
            <a:srgbClr val="FF7043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192" y="3227832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13832" y="31089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Timeline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513832" y="34015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 of analysis actions, timestamps and model comparison summary.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365760" y="4023360"/>
            <a:ext cx="4114800" cy="86868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365760" y="4023360"/>
            <a:ext cx="54864" cy="868680"/>
          </a:xfrm>
          <a:prstGeom prst="rect">
            <a:avLst/>
          </a:prstGeom>
          <a:solidFill>
            <a:srgbClr val="00C9FF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" y="4233672"/>
            <a:ext cx="411480" cy="4114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078992" y="41148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1078992" y="44074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independently trainable, evaluatable and swappable.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800600" y="4023360"/>
            <a:ext cx="4114800" cy="86868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800600" y="4023360"/>
            <a:ext cx="54864" cy="868680"/>
          </a:xfrm>
          <a:prstGeom prst="rect">
            <a:avLst/>
          </a:prstGeom>
          <a:solidFill>
            <a:srgbClr val="00FF94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5192" y="4233672"/>
            <a:ext cx="411480" cy="4114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513832" y="41148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Report Ready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5513832" y="44074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ID, scan type, and analysis output captured for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During Development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domain hurdles overcome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54864" cy="11887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716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15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42646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images differ fundamentally from ImageNet photos. ResNet50 fine-tuning required careful LR scheduling to adapt ImageNet features to medical context.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377440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377440"/>
            <a:ext cx="54864" cy="1188720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72491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TL Underperformance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51560" y="2779776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initially scored only 85.75% accuracy due to suboptimal backbone freezing strategy. Fixed via 2-phase training.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730752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730752"/>
            <a:ext cx="54864" cy="1188720"/>
          </a:xfrm>
          <a:prstGeom prst="rect">
            <a:avLst/>
          </a:prstGeom>
          <a:solidFill>
            <a:srgbClr val="7C4D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7822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Data Requirements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51560" y="413308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typically need large datasets. Hybrid ViT (ResNet50 + attention) solved this by leveraging CNN feature extraction as preprocessing.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1024128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1024128"/>
            <a:ext cx="54864" cy="118872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37160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1115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for ViT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142646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Grad-CAM is not applicable to transformers. Implemented ViT-specific patch saliency via [CLS] token attention weight extraction.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800600" y="2377440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00600" y="2377440"/>
            <a:ext cx="54864" cy="1188720"/>
          </a:xfrm>
          <a:prstGeom prst="rect">
            <a:avLst/>
          </a:prstGeom>
          <a:solidFill>
            <a:srgbClr val="FF7043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272491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0" y="2779776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model checkpoint paths, metric JSON files and the Streamlit dashboard required careful artifact versioning and path management.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800600" y="3730752"/>
            <a:ext cx="4114800" cy="1188720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00600" y="3730752"/>
            <a:ext cx="54864" cy="1188720"/>
          </a:xfrm>
          <a:prstGeom prst="rect">
            <a:avLst/>
          </a:prstGeom>
          <a:solidFill>
            <a:srgbClr val="00C9FF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4078224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86400" y="413308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had potential class imbalance. Addressed via balanced 200+200 test split and augmentation of minority class during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&amp;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toward production-grade clinical 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046720" cy="512064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512064"/>
          </a:xfrm>
          <a:prstGeom prst="rect">
            <a:avLst/>
          </a:prstGeom>
          <a:solidFill>
            <a:srgbClr val="00C9FF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60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binary to glioma, meningioma, pituitary tumor &amp; no tumor — enabling treatment-specific routing.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0" y="1097280"/>
            <a:ext cx="1005840" cy="2743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097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591056"/>
            <a:ext cx="8046720" cy="512064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91056"/>
            <a:ext cx="54864" cy="512064"/>
          </a:xfrm>
          <a:prstGeom prst="rect">
            <a:avLst/>
          </a:prstGeom>
          <a:solidFill>
            <a:srgbClr val="00FF94"/>
          </a:solidFill>
          <a:ln w="6350">
            <a:solidFill>
              <a:srgbClr val="00F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Volumetric MRI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188366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full MRI volumes with 3D CNNs or volumetric transformers for inter-slice context.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1682496"/>
            <a:ext cx="1005840" cy="27432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6824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176272"/>
            <a:ext cx="8046720" cy="512064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176272"/>
            <a:ext cx="54864" cy="512064"/>
          </a:xfrm>
          <a:prstGeom prst="rect">
            <a:avLst/>
          </a:prstGeom>
          <a:solidFill>
            <a:srgbClr val="7C4DFF"/>
          </a:solidFill>
          <a:ln w="6350">
            <a:solidFill>
              <a:srgbClr val="7C4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231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4688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across multiple hospital sites without centralizing patient data — HIPAA/GDPR compliant.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2267712"/>
            <a:ext cx="1005840" cy="27432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2267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2761488"/>
            <a:ext cx="8046720" cy="512064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761488"/>
            <a:ext cx="54864" cy="512064"/>
          </a:xfrm>
          <a:prstGeom prst="rect">
            <a:avLst/>
          </a:prstGeom>
          <a:solidFill>
            <a:srgbClr val="00BCD4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816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054096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Bayesian/MC-Dropout confidence intervals to flag low-confidence predictions for human review.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0" y="2852928"/>
            <a:ext cx="100584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2852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SAFETY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346704"/>
            <a:ext cx="8046720" cy="512064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346704"/>
            <a:ext cx="54864" cy="512064"/>
          </a:xfrm>
          <a:prstGeom prst="rect">
            <a:avLst/>
          </a:prstGeom>
          <a:solidFill>
            <a:srgbClr val="FF7043"/>
          </a:solidFill>
          <a:ln w="6350">
            <a:solidFill>
              <a:srgbClr val="FF70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401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Support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363931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DICOM file format ingestion for seamless hospital PACS system integration.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3438144"/>
            <a:ext cx="1005840" cy="2743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3438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3931920"/>
            <a:ext cx="8046720" cy="512064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931920"/>
            <a:ext cx="54864" cy="512064"/>
          </a:xfrm>
          <a:prstGeom prst="rect">
            <a:avLst/>
          </a:prstGeom>
          <a:solidFill>
            <a:srgbClr val="FFD93D"/>
          </a:solidFill>
          <a:ln w="6350">
            <a:solidFill>
              <a:srgbClr val="FFD9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Versioning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4224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tracking, automated model deployment pipelines and artifact versioning via MLflow/DVC.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0" y="4023360"/>
            <a:ext cx="1005840" cy="27432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4023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4517136"/>
            <a:ext cx="8046720" cy="512064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517136"/>
            <a:ext cx="54864" cy="512064"/>
          </a:xfrm>
          <a:prstGeom prst="rect">
            <a:avLst/>
          </a:prstGeom>
          <a:solidFill>
            <a:srgbClr val="00C9FF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572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Data Augmentation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4809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MRI generation via GANs to expand training distribution and rare tumor type coverage.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0" y="4608576"/>
            <a:ext cx="1005840" cy="2743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46085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NeuroLens AI creates clinical impact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713232"/>
          </a:xfrm>
          <a:prstGeom prst="rect">
            <a:avLst/>
          </a:prstGeom>
          <a:solidFill>
            <a:srgbClr val="00C9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1430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78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3716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Radiologists use NeuroLens AI as a second-opinion tool, prioritizing flagged scans for urgent review. Grad-CAM overlays let doctors verify AI decisions.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828800"/>
            <a:ext cx="8412480" cy="71323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828800"/>
            <a:ext cx="54864" cy="713232"/>
          </a:xfrm>
          <a:prstGeom prst="rect">
            <a:avLst/>
          </a:prstGeom>
          <a:solidFill>
            <a:srgbClr val="00FF9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19659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&amp; Remote Screening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51560" y="2194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workers in underserved regions upload scans via browser dashboard and receive instant results without specialist access.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651760"/>
            <a:ext cx="8412480" cy="71323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651760"/>
            <a:ext cx="54864" cy="713232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27889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Triage Automation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51560" y="30175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radiology workflows integrate NeuroLens AI to auto-prioritize suspected tumor cases, reducing time-to-diagnosis for critical patients.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474720"/>
            <a:ext cx="8412480" cy="71323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" y="3474720"/>
            <a:ext cx="54864" cy="713232"/>
          </a:xfrm>
          <a:prstGeom prst="rect">
            <a:avLst/>
          </a:prstGeom>
          <a:solidFill>
            <a:srgbClr val="7C4DF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6118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547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Benchmarking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3840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JSON metrics enable automated performance tracking for new model architectures on standardized MRI classification tasks.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65760" y="4297680"/>
            <a:ext cx="8412480" cy="713232"/>
          </a:xfrm>
          <a:prstGeom prst="rect">
            <a:avLst/>
          </a:prstGeom>
          <a:solidFill>
            <a:srgbClr val="1A2332"/>
          </a:solidFill>
          <a:ln w="9525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65760" y="4297680"/>
            <a:ext cx="54864" cy="713232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443484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4370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Education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5156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Trainees examine Grad-CAM heatmaps to build intuition about how AI identifies tumor regions — bridging pathology and AI methodology.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NeuroLens AI has demonstrated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76656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54864" cy="676656"/>
          </a:xfrm>
          <a:prstGeom prst="rect">
            <a:avLst/>
          </a:prstGeom>
          <a:solidFill>
            <a:srgbClr val="00C9FF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338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Three architectures, all clinically competitive.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(97.5%), Transfer Learning (98.25%), Vision Transformer (98.0%) — all exceed the 95% success criterion.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8412480" cy="676656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65376"/>
            <a:ext cx="54864" cy="676656"/>
          </a:xfrm>
          <a:prstGeom prst="rect">
            <a:avLst/>
          </a:prstGeom>
          <a:solidFill>
            <a:srgbClr val="00FF94"/>
          </a:solidFill>
          <a:ln w="6350">
            <a:solidFill>
              <a:srgbClr val="00F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Transfer Learning achieves the highest accuracy.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98.25% with 0.9956 ROC AUC after two-phase fine-tuning of ResNet50 backbone.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8412480" cy="676656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51760"/>
            <a:ext cx="54864" cy="676656"/>
          </a:xfrm>
          <a:prstGeom prst="rect">
            <a:avLst/>
          </a:prstGeom>
          <a:solidFill>
            <a:srgbClr val="7C4DFF"/>
          </a:solidFill>
          <a:ln w="6350">
            <a:solidFill>
              <a:srgbClr val="7C4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066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Vision Transformer delivers the highest ROC AUC.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999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0.9975 AUC and 99.5% specificity — ideal for population-level screening with minimal false alarms.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38144"/>
            <a:ext cx="8412480" cy="676656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438144"/>
            <a:ext cx="54864" cy="676656"/>
          </a:xfrm>
          <a:prstGeom prst="rect">
            <a:avLst/>
          </a:prstGeom>
          <a:solidFill>
            <a:srgbClr val="00BCD4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93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Explainability builds clinical trust.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7856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and ViT patch saliency maps provide visual proof of model decisions for radiologist verification.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24528"/>
            <a:ext cx="8412480" cy="576072"/>
          </a:xfrm>
          <a:prstGeom prst="rect">
            <a:avLst/>
          </a:prstGeom>
          <a:solidFill>
            <a:srgbClr val="1A2332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224528"/>
            <a:ext cx="54864" cy="576072"/>
          </a:xfrm>
          <a:prstGeom prst="rect">
            <a:avLst/>
          </a:prstGeom>
          <a:solidFill>
            <a:srgbClr val="FF7043"/>
          </a:solidFill>
          <a:ln w="6350">
            <a:solidFill>
              <a:srgbClr val="FF70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793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Local deployment is practical and privacy-preserving.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enables real-time inference without cloud dependency, protecting patient data.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NeuroLens AI — A modular, interpretable, multi-architecture deep learning framework for reliable brain tumor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731520"/>
            <a:ext cx="1828800" cy="18288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83464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45920" y="1523239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3"/>
          <p:cNvSpPr/>
          <p:nvPr/>
        </p:nvSpPr>
        <p:spPr>
          <a:xfrm>
            <a:off x="1920240" y="2436919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1463040" y="2971843"/>
            <a:ext cx="3657600" cy="3657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9" name="Text 5"/>
          <p:cNvSpPr/>
          <p:nvPr/>
        </p:nvSpPr>
        <p:spPr>
          <a:xfrm>
            <a:off x="2560320" y="3107859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Archisman Das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2011682" y="3383365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" y="3044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" y="33649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0292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828800" y="33649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82880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154680" y="33649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15468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480560" y="33649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48056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65760" y="4617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2286000" y="4617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65760" y="4892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2286000" y="4892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3851</Words>
  <Application>Microsoft Office PowerPoint</Application>
  <PresentationFormat>On-screen Show (16:9)</PresentationFormat>
  <Paragraphs>667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NeuroLens AI — Brain Tumor Detection</dc:title>
  <dc:subject>PptxGenJS Presentation</dc:subject>
  <dc:creator>Archisman Das</dc:creator>
  <cp:lastModifiedBy>Archisman Das</cp:lastModifiedBy>
  <cp:revision>10</cp:revision>
  <dcterms:created xsi:type="dcterms:W3CDTF">2026-05-23T08:32:40Z</dcterms:created>
  <dcterms:modified xsi:type="dcterms:W3CDTF">2026-05-23T09:04:22Z</dcterms:modified>
</cp:coreProperties>
</file>